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15"/>
  </p:notesMasterIdLst>
  <p:handoutMasterIdLst>
    <p:handoutMasterId r:id="rId16"/>
  </p:handoutMasterIdLst>
  <p:sldIdLst>
    <p:sldId id="442" r:id="rId4"/>
    <p:sldId id="728" r:id="rId5"/>
    <p:sldId id="746" r:id="rId6"/>
    <p:sldId id="730" r:id="rId7"/>
    <p:sldId id="731" r:id="rId8"/>
    <p:sldId id="736" r:id="rId9"/>
    <p:sldId id="725" r:id="rId10"/>
    <p:sldId id="744" r:id="rId11"/>
    <p:sldId id="741" r:id="rId12"/>
    <p:sldId id="742" r:id="rId13"/>
    <p:sldId id="743" r:id="rId14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ram Yadav" initials="SY" lastIdx="1" clrIdx="0">
    <p:extLst>
      <p:ext uri="{19B8F6BF-5375-455C-9EA6-DF929625EA0E}">
        <p15:presenceInfo xmlns:p15="http://schemas.microsoft.com/office/powerpoint/2012/main" xmlns="" userId="11ecc7d3f84f4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FF0066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088" autoAdjust="0"/>
    <p:restoredTop sz="94394" autoAdjust="0"/>
  </p:normalViewPr>
  <p:slideViewPr>
    <p:cSldViewPr>
      <p:cViewPr varScale="1">
        <p:scale>
          <a:sx n="69" d="100"/>
          <a:sy n="69" d="100"/>
        </p:scale>
        <p:origin x="-123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7A49BD9-C15B-4CCE-BA8B-28A7138E7D46}" type="datetime3">
              <a:rPr lang="en-US" smtClean="0"/>
              <a:pPr>
                <a:defRPr/>
              </a:pPr>
              <a:t>2 September 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 dirty="0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3445701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45AF635-11AF-450F-B773-692E6CB212DF}" type="datetime3">
              <a:rPr lang="en-US" smtClean="0"/>
              <a:pPr>
                <a:defRPr/>
              </a:pPr>
              <a:t>2 September 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28" tIns="47864" rIns="95728" bIns="4786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5728" tIns="47864" rIns="95728" bIns="4786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7174920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AF8618D-51AD-40EB-86A2-24DEC409AC1E}" type="datetime3">
              <a:rPr lang="en-US" smtClean="0"/>
              <a:pPr>
                <a:defRPr/>
              </a:pPr>
              <a:t>2 September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D5A1-37CC-4B13-9F17-5059BEF349E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127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15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11EB-544A-4405-9B07-930EC371C035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568E9-B9E9-4171-B614-6B8CD7508211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F4348-0461-4A32-B5EC-44A54333EEB4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54709-D76C-492B-9E83-DA5CE41081DB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5A5D3-A5C5-41BC-AC1B-78376003971C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4A47-561E-465A-A6B1-ADF332ABEB53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29B9D-76A3-483C-9F6A-540A7409809D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E52A7-64DF-4833-A86F-A3F47E2AC27C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4E39E-479B-4003-953E-8F945459897C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6DFE3-E17F-466C-8AC1-52E2468DF967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95922-CB65-4694-88E1-0389563862D8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FD4F-3980-456F-B545-8D53309EA37E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5EB8F-F371-4484-A84C-21A1B01158C7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79A4-C0B2-4C81-A4FB-1E5B80AD0B49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2897-C65B-406D-A588-744D383CA7DE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1FA1-8458-4129-924B-7532EDD86147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E24D-4434-424D-9C75-6E46573DFD75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143-239B-42CE-BE0F-55E3CD594915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D920-F682-4A55-B63F-48C8F1CC1283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7B04-B5F9-4630-A128-87B4B92EA18E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A310-130A-439C-B3E5-0906939592AC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05B-E5CC-4464-9BB7-7BCCF84A07E4}" type="datetime5">
              <a:rPr lang="en-US" smtClean="0"/>
              <a:pPr/>
              <a:t>2-Sep-23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573B2-5186-4EA1-B709-D1438BA10970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369F-A3ED-4071-A75D-258CD23F1EC5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E41D-AD20-4582-96A9-26AE005D4E42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45C0-2AC4-4702-9C85-BED29F3D5C77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8E6B-3CEE-468F-BE48-CC50E9D8E64E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E50-1432-4FE3-B49C-8A04528B6EFC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31A2-936F-4415-B2A7-7A973F13EE44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FD456-933D-482B-A38F-44A2D1FBACCD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5F44-41B5-44CF-9451-A8CFAFD511C5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F398-5194-4922-94CC-66A368E58A46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A51E7-B80F-47BE-909C-C69C302A4ACA}" type="datetime5">
              <a:rPr lang="en-US" smtClean="0"/>
              <a:pPr/>
              <a:t>2-Sep-23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D6E878-1374-43BF-9C46-281CCE7F38C1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B0F85-54C5-4371-92E9-C441160297C0}" type="datetime5">
              <a:rPr lang="en-US" smtClean="0"/>
              <a:pPr/>
              <a:t>2-Sep-23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4985-C20B-43A0-A3C8-38EB8430E818}" type="datetime5">
              <a:rPr lang="en-US" smtClean="0"/>
              <a:pPr/>
              <a:t>2-Sep-23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CBEF2C-2FC6-4550-AD19-8608845C5ED5}" type="datetime5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2-Sep-23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87824" y="-2416"/>
            <a:ext cx="61080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KONGU ENGINEERING COLLEGE</a:t>
            </a:r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PERUNDURAI ERODE-638060</a:t>
            </a:r>
          </a:p>
          <a:p>
            <a:pPr algn="ctr"/>
            <a:endParaRPr lang="en-US" sz="105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NAME</a:t>
            </a:r>
          </a:p>
          <a:p>
            <a:pPr algn="ctr"/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KEC IDEATHON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600" y="1728329"/>
            <a:ext cx="8158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TITLE OF THE PROJECT</a:t>
            </a:r>
            <a:endParaRPr lang="en-US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F02AFFD-8CB1-4416-B227-37B6A21D8984}"/>
              </a:ext>
            </a:extLst>
          </p:cNvPr>
          <p:cNvSpPr txBox="1"/>
          <p:nvPr/>
        </p:nvSpPr>
        <p:spPr>
          <a:xfrm>
            <a:off x="3022199" y="2366005"/>
            <a:ext cx="6108091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Lead: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Name (Roll No.)</a:t>
            </a:r>
            <a:endParaRPr lang="en-US" sz="1400" b="1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Member 1 ( Roll No.)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                               Member 2 ( Roll No.)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                               Member 3 ( Roll No.)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                               Member 4 ( Roll No.)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                               Member 5 ( Roll No.)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Technology Readiness Level: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TRL --</a:t>
            </a: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Mentor with Designation and Department:</a:t>
            </a: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244" y="4929890"/>
            <a:ext cx="1512167" cy="6541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521" y="5697902"/>
            <a:ext cx="1619672" cy="5830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289" y="3513794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association with:</a:t>
            </a:r>
            <a:endParaRPr lang="en-US" sz="1200" b="1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16" name="Picture 15" descr="F:\KEC\IIC\EMDC Logo.jp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6849" y="3922859"/>
            <a:ext cx="777151" cy="83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3517"/>
            <a:ext cx="1259632" cy="1517856"/>
          </a:xfrm>
          <a:prstGeom prst="rect">
            <a:avLst/>
          </a:prstGeom>
        </p:spPr>
      </p:pic>
      <p:pic>
        <p:nvPicPr>
          <p:cNvPr id="18" name="Picture 17" descr="G:\TBI\TBI@KEC Logos\K Transform\6-5x4 product centre.jp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08301" y="1335590"/>
            <a:ext cx="1713898" cy="149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62000" y="85725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The Problem 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2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3567" y="1527175"/>
            <a:ext cx="8308033" cy="4572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Define the problem and its relevance to today's market / society / industry need – specify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Pain Points  of the intended user </a:t>
            </a:r>
            <a:r>
              <a:rPr lang="en-US" b="1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your target customer)</a:t>
            </a:r>
            <a:endParaRPr lang="en-US" b="1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marL="365760" lvl="1" indent="0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413320" y="6521276"/>
            <a:ext cx="8839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300" b="1" dirty="0"/>
              <a:t>Use Images / Photos / Video </a:t>
            </a:r>
            <a:r>
              <a:rPr lang="en-US" altLang="en-US" sz="1300" dirty="0"/>
              <a:t>| </a:t>
            </a:r>
            <a:r>
              <a:rPr lang="en-US" altLang="en-US" sz="1300" dirty="0">
                <a:solidFill>
                  <a:srgbClr val="C00000"/>
                </a:solidFill>
              </a:rPr>
              <a:t>Don’t just answer given points in slides | Avoid para </a:t>
            </a:r>
            <a:r>
              <a:rPr lang="en-US" altLang="en-US" sz="1300" dirty="0"/>
              <a:t>| </a:t>
            </a:r>
            <a:r>
              <a:rPr lang="en-US" altLang="en-US" sz="1300" b="1" dirty="0"/>
              <a:t>Use bullet points</a:t>
            </a:r>
            <a:endParaRPr lang="en-ZW" altLang="en-US" sz="1300" b="1" dirty="0"/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8449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B0800F-762D-7F68-3E0D-5CDFBCCA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739073-B021-E50D-9B8E-C180678E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xmlns="" id="{6DA87752-CBC4-929C-3D8B-E8B15A9AD070}"/>
              </a:ext>
            </a:extLst>
          </p:cNvPr>
          <p:cNvGrpSpPr/>
          <p:nvPr/>
        </p:nvGrpSpPr>
        <p:grpSpPr>
          <a:xfrm>
            <a:off x="150204" y="124199"/>
            <a:ext cx="8921365" cy="6624304"/>
            <a:chOff x="143122" y="105149"/>
            <a:chExt cx="11895153" cy="6624304"/>
          </a:xfrm>
        </p:grpSpPr>
        <p:pic>
          <p:nvPicPr>
            <p:cNvPr id="5" name="Picture 4" descr="Problem statement canvas for startups and innovation teams">
              <a:extLst>
                <a:ext uri="{FF2B5EF4-FFF2-40B4-BE49-F238E27FC236}">
                  <a16:creationId xmlns:a16="http://schemas.microsoft.com/office/drawing/2014/main" xmlns="" id="{F06F1E3D-D977-01FB-CBAD-59464D78E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122" y="623869"/>
              <a:ext cx="11895153" cy="6105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7A33BECF-2170-EB88-489C-223BF925EAB9}"/>
                </a:ext>
              </a:extLst>
            </p:cNvPr>
            <p:cNvSpPr txBox="1"/>
            <p:nvPr/>
          </p:nvSpPr>
          <p:spPr>
            <a:xfrm>
              <a:off x="365890" y="105149"/>
              <a:ext cx="986398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C00000"/>
                  </a:solidFill>
                </a:rPr>
                <a:t>Problem Statement Canvas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2E8EDFDC-2EC0-2597-BBE5-A809A8C4BB24}"/>
                </a:ext>
              </a:extLst>
            </p:cNvPr>
            <p:cNvSpPr txBox="1"/>
            <p:nvPr/>
          </p:nvSpPr>
          <p:spPr>
            <a:xfrm>
              <a:off x="2779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79C4E448-248D-BA04-065B-13985673EC98}"/>
                </a:ext>
              </a:extLst>
            </p:cNvPr>
            <p:cNvSpPr txBox="1"/>
            <p:nvPr/>
          </p:nvSpPr>
          <p:spPr>
            <a:xfrm>
              <a:off x="426965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D73DF0B1-6A05-5C82-76CA-4E36FA828BA1}"/>
                </a:ext>
              </a:extLst>
            </p:cNvPr>
            <p:cNvSpPr txBox="1"/>
            <p:nvPr/>
          </p:nvSpPr>
          <p:spPr>
            <a:xfrm>
              <a:off x="82614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E1864418-2489-48B4-8063-877E6AE90463}"/>
                </a:ext>
              </a:extLst>
            </p:cNvPr>
            <p:cNvSpPr txBox="1"/>
            <p:nvPr/>
          </p:nvSpPr>
          <p:spPr>
            <a:xfrm>
              <a:off x="277903" y="476753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ADC992E4-816D-D4E5-0729-A84B87F3F374}"/>
                </a:ext>
              </a:extLst>
            </p:cNvPr>
            <p:cNvSpPr txBox="1"/>
            <p:nvPr/>
          </p:nvSpPr>
          <p:spPr>
            <a:xfrm>
              <a:off x="8261403" y="469236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9142FBEC-BD64-C840-DF6A-E265601B3212}"/>
                </a:ext>
              </a:extLst>
            </p:cNvPr>
            <p:cNvSpPr txBox="1"/>
            <p:nvPr/>
          </p:nvSpPr>
          <p:spPr>
            <a:xfrm>
              <a:off x="4269653" y="4490536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B54DFAD6-C939-69C8-DCA9-0D6B2CF7FF28}"/>
                </a:ext>
              </a:extLst>
            </p:cNvPr>
            <p:cNvSpPr txBox="1"/>
            <p:nvPr/>
          </p:nvSpPr>
          <p:spPr>
            <a:xfrm>
              <a:off x="4269653" y="5923471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7449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22663" y="2413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4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22662" y="1600200"/>
            <a:ext cx="8341826" cy="48736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Identified solution to the specific pain points (problem)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Whether the solution is a new one or improved from existing one?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Problem- solution fitness to be addressed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Unfair advantage content – something that cannot be easily copied?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sp>
        <p:nvSpPr>
          <p:cNvPr id="17414" name="TextBox 6"/>
          <p:cNvSpPr txBox="1">
            <a:spLocks noChangeArrowheads="1"/>
          </p:cNvSpPr>
          <p:nvPr/>
        </p:nvSpPr>
        <p:spPr bwMode="auto">
          <a:xfrm>
            <a:off x="539552" y="6521276"/>
            <a:ext cx="8839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300" b="1" dirty="0"/>
              <a:t>Use Images / Photos / Video </a:t>
            </a:r>
            <a:r>
              <a:rPr lang="en-US" altLang="en-US" sz="1300" dirty="0"/>
              <a:t>| </a:t>
            </a:r>
            <a:r>
              <a:rPr lang="en-US" altLang="en-US" sz="1300" dirty="0">
                <a:solidFill>
                  <a:srgbClr val="C00000"/>
                </a:solidFill>
              </a:rPr>
              <a:t>Don’t just answer given points in slides | Avoid para </a:t>
            </a:r>
            <a:r>
              <a:rPr lang="en-US" altLang="en-US" sz="1300" dirty="0"/>
              <a:t>| </a:t>
            </a:r>
            <a:r>
              <a:rPr lang="en-US" altLang="en-US" sz="1300" b="1" dirty="0"/>
              <a:t>Use bullet points</a:t>
            </a:r>
            <a:endParaRPr lang="en-ZW" altLang="en-US" sz="1300" b="1" dirty="0"/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5535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94519" y="18864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/ Product workflow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C842EBB-16BF-45CC-8C0E-322995EC9A68}" type="slidenum">
              <a:rPr lang="en-US" altLang="en-US">
                <a:solidFill>
                  <a:srgbClr val="FFFFFF"/>
                </a:solidFill>
              </a:rPr>
              <a:pPr/>
              <a:t>5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436" name="Content Placeholder 2"/>
          <p:cNvSpPr>
            <a:spLocks noGrp="1"/>
          </p:cNvSpPr>
          <p:nvPr>
            <p:ph sz="quarter" idx="1"/>
          </p:nvPr>
        </p:nvSpPr>
        <p:spPr>
          <a:xfrm>
            <a:off x="594519" y="1622082"/>
            <a:ext cx="8369969" cy="4572000"/>
          </a:xfrm>
        </p:spPr>
        <p:txBody>
          <a:bodyPr/>
          <a:lstStyle/>
          <a:p>
            <a:pPr marL="26987" lvl="1" indent="0" eaLnBrk="1" hangingPunct="1">
              <a:lnSpc>
                <a:spcPct val="90000"/>
              </a:lnSpc>
              <a:buClr>
                <a:schemeClr val="accent1"/>
              </a:buClr>
              <a:buSzPct val="85000"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273050" lvl="1" eaLnBrk="1" hangingPunct="1">
              <a:lnSpc>
                <a:spcPct val="90000"/>
              </a:lnSpc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Your flowchart should explain “How to implement your solution to solve the identified pain points/ problem”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7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sp>
        <p:nvSpPr>
          <p:cNvPr id="18438" name="TextBox 6"/>
          <p:cNvSpPr txBox="1">
            <a:spLocks noChangeArrowheads="1"/>
          </p:cNvSpPr>
          <p:nvPr/>
        </p:nvSpPr>
        <p:spPr bwMode="auto">
          <a:xfrm>
            <a:off x="413320" y="6525344"/>
            <a:ext cx="8839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300" b="1" dirty="0"/>
              <a:t>Use Images / Photos / Video </a:t>
            </a:r>
            <a:r>
              <a:rPr lang="en-US" altLang="en-US" sz="1300" dirty="0"/>
              <a:t>| </a:t>
            </a:r>
            <a:r>
              <a:rPr lang="en-US" altLang="en-US" sz="1300" dirty="0">
                <a:solidFill>
                  <a:srgbClr val="C00000"/>
                </a:solidFill>
              </a:rPr>
              <a:t>Don’t just answer given points in slides | Avoid para </a:t>
            </a:r>
            <a:r>
              <a:rPr lang="en-US" altLang="en-US" sz="1300" dirty="0"/>
              <a:t>| </a:t>
            </a:r>
            <a:r>
              <a:rPr lang="en-US" altLang="en-US" sz="1300" b="1" dirty="0"/>
              <a:t>Use bullet points</a:t>
            </a:r>
            <a:endParaRPr lang="en-ZW" altLang="en-US" sz="1300" b="1" dirty="0"/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5942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28328" y="165324"/>
            <a:ext cx="8229600" cy="652235"/>
          </a:xfrm>
        </p:spPr>
        <p:txBody>
          <a:bodyPr/>
          <a:lstStyle/>
          <a:p>
            <a:pPr algn="ctr" eaLnBrk="1" hangingPunct="1"/>
            <a:r>
              <a:rPr lang="en-US" altLang="en-US" sz="4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AD06CDB-8126-435F-B087-50E83D3ED686}" type="datetime1">
              <a:rPr lang="en-US" altLang="en-US" smtClean="0">
                <a:solidFill>
                  <a:schemeClr val="tx2"/>
                </a:solidFill>
              </a:rPr>
              <a:pPr/>
              <a:t>9/2/2023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2582B8F-EDB6-4EB6-BECB-F4AE82629125}" type="slidenum">
              <a:rPr lang="en-US" altLang="en-US">
                <a:solidFill>
                  <a:srgbClr val="FFFFFF"/>
                </a:solidFill>
              </a:rPr>
              <a:pPr/>
              <a:t>6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3557" name="Content Placeholder 2"/>
          <p:cNvSpPr>
            <a:spLocks noGrp="1"/>
          </p:cNvSpPr>
          <p:nvPr>
            <p:ph sz="quarter" idx="1"/>
          </p:nvPr>
        </p:nvSpPr>
        <p:spPr>
          <a:xfrm>
            <a:off x="827583" y="1145654"/>
            <a:ext cx="7996535" cy="5055146"/>
          </a:xfrm>
        </p:spPr>
        <p:txBody>
          <a:bodyPr/>
          <a:lstStyle/>
          <a:p>
            <a:pPr marL="273050" lvl="1" algn="just" eaLnBrk="1" hangingPunct="1">
              <a:lnSpc>
                <a:spcPct val="90000"/>
              </a:lnSpc>
              <a:buClr>
                <a:schemeClr val="accent1"/>
              </a:buClr>
              <a:buSzPct val="85000"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How your proposed / developed (product / process / service) solution is different from similar or alternate product in the market by the competitors if any?</a:t>
            </a:r>
          </a:p>
          <a:p>
            <a:pPr marL="273050" lvl="1" algn="just" eaLnBrk="1" hangingPunct="1">
              <a:lnSpc>
                <a:spcPct val="90000"/>
              </a:lnSpc>
              <a:buClr>
                <a:schemeClr val="accent1"/>
              </a:buClr>
              <a:buSzPct val="85000"/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273050" lvl="1" algn="just" eaLnBrk="1" hangingPunct="1">
              <a:lnSpc>
                <a:spcPct val="90000"/>
              </a:lnSpc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Use Table to compare yours with others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8" name="TextBox 7"/>
          <p:cNvSpPr txBox="1">
            <a:spLocks noChangeArrowheads="1"/>
          </p:cNvSpPr>
          <p:nvPr/>
        </p:nvSpPr>
        <p:spPr bwMode="auto">
          <a:xfrm>
            <a:off x="323528" y="6521276"/>
            <a:ext cx="8839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300" b="1" dirty="0"/>
              <a:t>Use Images / Photos / Video </a:t>
            </a:r>
            <a:r>
              <a:rPr lang="en-US" altLang="en-US" sz="1300" dirty="0"/>
              <a:t>| </a:t>
            </a:r>
            <a:r>
              <a:rPr lang="en-US" altLang="en-US" sz="1300" dirty="0">
                <a:solidFill>
                  <a:srgbClr val="C00000"/>
                </a:solidFill>
              </a:rPr>
              <a:t>Don’t just answer given points in slides | Avoid para </a:t>
            </a:r>
            <a:r>
              <a:rPr lang="en-US" altLang="en-US" sz="1300" dirty="0"/>
              <a:t>| </a:t>
            </a:r>
            <a:r>
              <a:rPr lang="en-US" altLang="en-US" sz="1300" b="1" dirty="0"/>
              <a:t>Use bullet points</a:t>
            </a:r>
            <a:endParaRPr lang="en-ZW" altLang="en-US" sz="1300" b="1" dirty="0"/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08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883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chemeClr val="accent5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 Slides</a:t>
            </a:r>
            <a:endParaRPr lang="en-US" sz="66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2-Sep-23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8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659C9829-C827-4306-82C9-9A491834A22D}" type="slidenum">
              <a:rPr lang="en-US" altLang="en-US">
                <a:solidFill>
                  <a:srgbClr val="FFFFFF"/>
                </a:solidFill>
              </a:rPr>
              <a:pPr/>
              <a:t>9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8676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2867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0001" t="21413" r="12666" b="30000"/>
          <a:stretch>
            <a:fillRect/>
          </a:stretch>
        </p:blipFill>
        <p:spPr bwMode="auto">
          <a:xfrm>
            <a:off x="683567" y="404664"/>
            <a:ext cx="835292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84171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237EDF1-6330-40FC-A46C-66F96396F416}" type="slidenum">
              <a:rPr lang="en-US" altLang="en-US">
                <a:solidFill>
                  <a:srgbClr val="FFFFFF"/>
                </a:solidFill>
              </a:rPr>
              <a:pPr/>
              <a:t>10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9700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29701" name="Picture 2" descr="A screenshot of a cell phone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5576" y="548680"/>
            <a:ext cx="8208912" cy="62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50262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60BD57B9-3E90-4073-850B-066D1C2B0EA5}" type="slidenum">
              <a:rPr lang="en-US" altLang="en-US">
                <a:solidFill>
                  <a:srgbClr val="FFFFFF"/>
                </a:solidFill>
              </a:rPr>
              <a:pPr/>
              <a:t>11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0724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7622"/>
          <a:stretch>
            <a:fillRect/>
          </a:stretch>
        </p:blipFill>
        <p:spPr bwMode="auto">
          <a:xfrm>
            <a:off x="647700" y="476672"/>
            <a:ext cx="8388796" cy="6041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3596004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10408</TotalTime>
  <Words>342</Words>
  <Application>Microsoft Office PowerPoint</Application>
  <PresentationFormat>On-screen Show (4:3)</PresentationFormat>
  <Paragraphs>117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Flow</vt:lpstr>
      <vt:lpstr>1_Custom Design</vt:lpstr>
      <vt:lpstr>Custom Design</vt:lpstr>
      <vt:lpstr>Slide 1</vt:lpstr>
      <vt:lpstr>The Problem </vt:lpstr>
      <vt:lpstr>Problem statement </vt:lpstr>
      <vt:lpstr>The Solution</vt:lpstr>
      <vt:lpstr>Flowchart / Product workflow</vt:lpstr>
      <vt:lpstr>Existing Solution</vt:lpstr>
      <vt:lpstr>Slide 7</vt:lpstr>
      <vt:lpstr>Slide 8</vt:lpstr>
      <vt:lpstr>Slide 9</vt:lpstr>
      <vt:lpstr>Slide 10</vt:lpstr>
      <vt:lpstr>Slide 11</vt:lpstr>
    </vt:vector>
  </TitlesOfParts>
  <Company>KVITT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ELCOT</cp:lastModifiedBy>
  <cp:revision>1417</cp:revision>
  <dcterms:created xsi:type="dcterms:W3CDTF">2013-12-25T07:56:38Z</dcterms:created>
  <dcterms:modified xsi:type="dcterms:W3CDTF">2023-09-02T08:28:58Z</dcterms:modified>
</cp:coreProperties>
</file>